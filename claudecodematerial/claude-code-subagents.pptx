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993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280160"/>
            <a:ext cx="3657600" cy="3657600"/>
          </a:xfrm>
          <a:prstGeom prst="ellipse">
            <a:avLst/>
          </a:prstGeom>
          <a:solidFill>
            <a:srgbClr val="1450A3">
              <a:alpha val="3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0EA5E9">
              <a:alpha val="2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Claude Code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32004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guide for developers new to Claude Code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2560320" cy="457200"/>
          </a:xfrm>
          <a:prstGeom prst="round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43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What are Sub-Agents?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4343400"/>
            <a:ext cx="2560320" cy="457200"/>
          </a:xfrm>
          <a:prstGeom prst="round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4343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How to Create Them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4343400"/>
            <a:ext cx="2560320" cy="457200"/>
          </a:xfrm>
          <a:prstGeom prst="round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4343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Real-World Examples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Sub-Agent?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4124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05840"/>
            <a:ext cx="8183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sub-agent is a specialized AI assistant inside Claude Code that handles one specific type of task.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38988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sub-agent runs in its own context window with custom instructions, limited tools, and focused permissions.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2788920" cy="26974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212848"/>
            <a:ext cx="685800" cy="685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0175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Role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11480" y="340156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does ONE thing well — review, test, scan, or document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0" y="2103120"/>
            <a:ext cx="2788920" cy="26974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212848"/>
            <a:ext cx="68580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30175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Tools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37560" y="340156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gets access to tools it needs — safer and more precise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2103120"/>
            <a:ext cx="2788920" cy="26974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212848"/>
            <a:ext cx="685800" cy="685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30175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Context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63640" y="340156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stays out of your main chat, keeping it clean and focused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vs General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4124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3931920" cy="3749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3931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332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General Agents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0" y="158191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(JS / Python / frameworks)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207568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the loop yourself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5694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256946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API, DB, external service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063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28800" y="30632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 logic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5570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28800" y="355701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full engineering work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0507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28800" y="405079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apps &amp; pipelines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23360" y="251460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2336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VS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005840"/>
            <a:ext cx="4160520" cy="3749040"/>
          </a:xfrm>
          <a:prstGeom prst="rect">
            <a:avLst/>
          </a:prstGeom>
          <a:solidFill>
            <a:srgbClr val="0F2040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005840"/>
            <a:ext cx="4160520" cy="457200"/>
          </a:xfrm>
          <a:prstGeom prst="rect">
            <a:avLst/>
          </a:prstGeom>
          <a:solidFill>
            <a:srgbClr val="1450A3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0332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Sub-Agents (Claude Code)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1581912"/>
            <a:ext cx="54864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58191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72200" y="15819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files only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2075688"/>
            <a:ext cx="54864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07568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72200" y="20756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handles it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569464"/>
            <a:ext cx="54864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56946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72200" y="25694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Claude Code tools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3063240"/>
            <a:ext cx="54864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0632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72200" y="3063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or by name in chat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3557016"/>
            <a:ext cx="54864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5570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72200" y="35570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just write Markdown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4050792"/>
            <a:ext cx="54864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05079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172200" y="40507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workflow in IDE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Sub-Agent Files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4124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3657600"/>
          </a:xfrm>
          <a:prstGeom prst="rect">
            <a:avLst/>
          </a:prstGeom>
          <a:solidFill>
            <a:srgbClr val="0F2040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15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AGENTS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" y="1399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~/.claude/agents/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92224"/>
            <a:ext cx="379476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8745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across ALL your projects. Great for agents you use every day.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560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files: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109728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9077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code-reviewer.md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291840"/>
            <a:ext cx="109728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32735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test-writer.md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3657600"/>
            <a:ext cx="109728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639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my-debugger.md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709160" y="1005840"/>
            <a:ext cx="4160520" cy="3657600"/>
          </a:xfrm>
          <a:prstGeom prst="rect">
            <a:avLst/>
          </a:prstGeom>
          <a:solidFill>
            <a:srgbClr val="0F20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97280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32120" y="1115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AGENTS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532120" y="1399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92040" y="1792224"/>
            <a:ext cx="379476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92040" y="18745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available in THIS project. Commit to Git so your whole team benefits.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92040" y="2560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files: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892040" y="2926080"/>
            <a:ext cx="109728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93208" y="29077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api-designer.md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892040" y="3291840"/>
            <a:ext cx="109728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93208" y="32735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migration-helper.md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892040" y="3657600"/>
            <a:ext cx="109728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93208" y="3639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docs-writer.md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solidFill>
            <a:srgbClr val="1450A3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If two agents share the same name, the project-level agent takes priority over the personal one.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Sub-Agent File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4124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754880" cy="3794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7548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1005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code-reviewer.md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613916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code-reviewer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837944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Use to review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061972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 for quality issues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2860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Read, Grep, Glob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510028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haiku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2734056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2958084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182112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code review expert.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40614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reviewing code: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3630168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Check naming conventions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3854196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Find performance issues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078224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Flag missing error handling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4302252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modify files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57800" y="1207008"/>
            <a:ext cx="361188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57800" y="1207008"/>
            <a:ext cx="54864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123444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144475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— used to call the agent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57800" y="1883664"/>
            <a:ext cx="361188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800" y="1883664"/>
            <a:ext cx="54864" cy="475488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191109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94960" y="212140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Claude WHEN to auto-delegate to this agent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257800" y="2551176"/>
            <a:ext cx="361188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57800" y="2551176"/>
            <a:ext cx="54864" cy="475488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257860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94960" y="278892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Claude Code tools it can access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257800" y="3209544"/>
            <a:ext cx="361188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7800" y="3209544"/>
            <a:ext cx="54864" cy="47548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323697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94960" y="344728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(fast) · sonnet (balanced) · opus (powerful)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257800" y="3895344"/>
            <a:ext cx="361188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57800" y="3895344"/>
            <a:ext cx="5486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392277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94960" y="413308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--- becomes the agent's instructions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First Sub-Agent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4124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50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/agents command — the easiest way to get started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9844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126187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Claude Code &amp; type /agents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86384" y="153619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opens the sub-agent management menu in your terminal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" y="1719072"/>
            <a:ext cx="0" cy="256032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029968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6384" y="199339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→ Create new agent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86384" y="226771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Personal (all projects) or Project (this project only)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6344" y="2450592"/>
            <a:ext cx="0" cy="256032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761488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86384" y="272491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→ Generate with Claude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86384" y="299923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will write the name, description, and system prompt for you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66344" y="3182112"/>
            <a:ext cx="0" cy="256032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3493008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6384" y="345643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agent in plain English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786384" y="373075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agent that reviews TypeScript for best practices and never modifies files"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66344" y="3913632"/>
            <a:ext cx="0" cy="256032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4224528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86384" y="418795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tools &amp; model, then save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786384" y="446227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reviewer: choose Read-only tools and haiku for speed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4124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15727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1430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7373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2029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 contents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50592" y="1005840"/>
            <a:ext cx="2011680" cy="15727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4972" y="11430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42032" y="17373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542032" y="2029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files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26864" y="1005840"/>
            <a:ext cx="2011680" cy="15727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1244" y="114300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18304" y="17373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718304" y="2029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existing files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803136" y="1005840"/>
            <a:ext cx="2011680" cy="15727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516" y="11430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94576" y="17373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894576" y="2029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terminal commands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274320" y="2743200"/>
            <a:ext cx="2011680" cy="15727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288036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65760" y="3474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65760" y="3767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text in files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450592" y="2743200"/>
            <a:ext cx="2011680" cy="15727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972" y="2880360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542032" y="3474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2542032" y="3767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files by pattern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626864" y="2743200"/>
            <a:ext cx="2011680" cy="15727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1244" y="2880360"/>
            <a:ext cx="502920" cy="5029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718304" y="3474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WebSearch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4718304" y="3767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internet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803136" y="2743200"/>
            <a:ext cx="2011680" cy="15727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7516" y="2880360"/>
            <a:ext cx="502920" cy="5029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894576" y="3474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WebFetch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6894576" y="3767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 URL's content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1450A3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Best Practice: Give your agent the MINIMUM tools needed. A reviewer only needs Read + Grep + Glob.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Ready-to-Use Sub-Agents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4124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88920" cy="3840480"/>
          </a:xfrm>
          <a:prstGeom prst="rect">
            <a:avLst/>
          </a:prstGeom>
          <a:solidFill>
            <a:srgbClr val="0F2040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88920" cy="475488"/>
          </a:xfrm>
          <a:prstGeom prst="rect">
            <a:avLst/>
          </a:prstGeom>
          <a:solidFill>
            <a:srgbClr val="1450A3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515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0698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41248" y="1325880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1480" y="15819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51560" y="158191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haiku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1828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51560" y="1828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Read, Grep, Glob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11480" y="2176272"/>
            <a:ext cx="25146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304288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2267712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readability &amp; naming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2724912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2688336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performance issues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3145536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310896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missing error handling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3566160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" y="3529584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quality 1–10, never edits files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246120" y="1005840"/>
            <a:ext cx="2788920" cy="3840480"/>
          </a:xfrm>
          <a:prstGeom prst="rect">
            <a:avLst/>
          </a:prstGeom>
          <a:solidFill>
            <a:srgbClr val="0F20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46120" y="1005840"/>
            <a:ext cx="2788920" cy="475488"/>
          </a:xfrm>
          <a:prstGeom prst="rect">
            <a:avLst/>
          </a:prstGeom>
          <a:solidFill>
            <a:srgbClr val="1450A3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051560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813048" y="10698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test-writer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3813048" y="1325880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.md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383280" y="15819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023360" y="158191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haiku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383280" y="1828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023360" y="1828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Read, Write, Edit, Glob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383280" y="2176272"/>
            <a:ext cx="25146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429000" y="23042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593592" y="2267712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existing test framework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3429000" y="272491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593592" y="2688336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edge cases not happy paths only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3429000" y="31455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593592" y="310896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project naming conventions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3429000" y="35661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593592" y="3529584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creates tests, never changes source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6217920" y="1005840"/>
            <a:ext cx="2788920" cy="3840480"/>
          </a:xfrm>
          <a:prstGeom prst="rect">
            <a:avLst/>
          </a:prstGeom>
          <a:solidFill>
            <a:srgbClr val="0F2040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6217920" y="1005840"/>
            <a:ext cx="2788920" cy="475488"/>
          </a:xfrm>
          <a:prstGeom prst="rect">
            <a:avLst/>
          </a:prstGeom>
          <a:solidFill>
            <a:srgbClr val="1450A3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051560"/>
            <a:ext cx="384048" cy="384048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6784848" y="10698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security-scanner</a:t>
            </a:r>
            <a:endParaRPr lang="en-US" sz="1150" dirty="0"/>
          </a:p>
        </p:txBody>
      </p:sp>
      <p:sp>
        <p:nvSpPr>
          <p:cNvPr id="45" name="Text 40"/>
          <p:cNvSpPr/>
          <p:nvPr/>
        </p:nvSpPr>
        <p:spPr>
          <a:xfrm>
            <a:off x="6784848" y="1325880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.md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6355080" y="15819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6995160" y="158191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6355080" y="1828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</a:t>
            </a:r>
            <a:endParaRPr lang="en-US" sz="1000" dirty="0"/>
          </a:p>
        </p:txBody>
      </p:sp>
      <p:sp>
        <p:nvSpPr>
          <p:cNvPr id="49" name="Text 44"/>
          <p:cNvSpPr/>
          <p:nvPr/>
        </p:nvSpPr>
        <p:spPr>
          <a:xfrm>
            <a:off x="6995160" y="1828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Read, Grep, Glob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6355080" y="2176272"/>
            <a:ext cx="25146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6400800" y="230428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6565392" y="2267712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SQL injection &amp; XSS</a:t>
            </a:r>
            <a:endParaRPr lang="en-US" sz="1050" dirty="0"/>
          </a:p>
        </p:txBody>
      </p:sp>
      <p:sp>
        <p:nvSpPr>
          <p:cNvPr id="53" name="Shape 48"/>
          <p:cNvSpPr/>
          <p:nvPr/>
        </p:nvSpPr>
        <p:spPr>
          <a:xfrm>
            <a:off x="6400800" y="272491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6565392" y="2688336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hardcoded secrets / API keys</a:t>
            </a:r>
            <a:endParaRPr lang="en-US" sz="1050" dirty="0"/>
          </a:p>
        </p:txBody>
      </p:sp>
      <p:sp>
        <p:nvSpPr>
          <p:cNvPr id="55" name="Shape 50"/>
          <p:cNvSpPr/>
          <p:nvPr/>
        </p:nvSpPr>
        <p:spPr>
          <a:xfrm>
            <a:off x="6400800" y="314553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565392" y="310896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file + line number + severity</a:t>
            </a:r>
            <a:endParaRPr lang="en-US" sz="1050" dirty="0"/>
          </a:p>
        </p:txBody>
      </p:sp>
      <p:sp>
        <p:nvSpPr>
          <p:cNvPr id="57" name="Shape 52"/>
          <p:cNvSpPr/>
          <p:nvPr/>
        </p:nvSpPr>
        <p:spPr>
          <a:xfrm>
            <a:off x="6400800" y="356616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6565392" y="3529584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modifies any files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Your Sub-Agent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4124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3749040"/>
          </a:xfrm>
          <a:prstGeom prst="rect">
            <a:avLst/>
          </a:prstGeom>
          <a:solidFill>
            <a:srgbClr val="0F2040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30352" cy="5303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0698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Auto-Delegation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all agent descriptions and automatically delegates when the task matches.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221992"/>
            <a:ext cx="37490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768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You:  "Review my auth module"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auto-picks code-reviewer agent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1272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writing a specific description field is so important!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206240" cy="3749040"/>
          </a:xfrm>
          <a:prstGeom prst="rect">
            <a:avLst/>
          </a:prstGeom>
          <a:solidFill>
            <a:srgbClr val="0F20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0584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058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85232" y="1069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Invocation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155448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any agent by name directly in your message.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103120"/>
            <a:ext cx="39776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15798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code-reviewer on /src/auth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670048"/>
            <a:ext cx="39776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72491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test-writer for /utils.ts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236976"/>
            <a:ext cx="39776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2918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security-scanner on /api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90448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/agents in Claude Code to view, create, and manage all your sub-agents.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4124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69494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6949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7899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01498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/agents Generate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87552" y="12984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Claude write the first draft, then customize — much faster than starting from scratch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764792"/>
            <a:ext cx="8595360" cy="69494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764792"/>
            <a:ext cx="54864" cy="6949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883664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7552" y="18196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one responsibility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87552" y="21031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agents give far better results than trying to do everything in one agent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74320" y="2569464"/>
            <a:ext cx="8595360" cy="69494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569464"/>
            <a:ext cx="54864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688336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552" y="26243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specific description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87552" y="2907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Bad: "helps with code" → Good: "reviews TypeScript files for naming and performance issues"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74320" y="3374136"/>
            <a:ext cx="8595360" cy="69494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3374136"/>
            <a:ext cx="54864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49300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7552" y="34290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tools to the minimum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87552" y="37124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only needs Read + Grep + Glob. Fewer tools = more focused = fewer mistakes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74320" y="4178808"/>
            <a:ext cx="8595360" cy="69494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74320" y="4178808"/>
            <a:ext cx="54864" cy="6949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29768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7552" y="423367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project agents to Git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87552" y="451713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.claude/agents/ and commit so your whole team automatically gets the benefit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450A3">
              <a:alpha val="15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Build!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/agents → Generate with Claude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1148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195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9202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live in .claude/agents/ (project) or ~/.claude/agents/ (personal)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6888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4871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a Markdown file with YAML frontmatter + a system prompt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35808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05409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agent the minimum tools it needs for its specific role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02736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62102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haiku for fast/simple tasks, sonnet or opus for complex reasoning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69664"/>
            <a:ext cx="384048" cy="3840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0120" y="41879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auto-delegates or you can invoke agents explicitly by name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450A3"/>
          </a:solidFill>
          <a:ln w="12700">
            <a:solidFill>
              <a:srgbClr val="1450A3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docs.anthropic.com/en/docs/claude-code/sub-agents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989</Words>
  <Application>Microsoft Office PowerPoint</Application>
  <PresentationFormat>On-screen Show (16:9)</PresentationFormat>
  <Paragraphs>191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Create Sub-Agents in Claude Code</dc:title>
  <dc:subject>PptxGenJS Presentation</dc:subject>
  <dc:creator>PptxGenJS</dc:creator>
  <cp:lastModifiedBy>DELL</cp:lastModifiedBy>
  <cp:revision>2</cp:revision>
  <dcterms:created xsi:type="dcterms:W3CDTF">2026-03-28T17:02:12Z</dcterms:created>
  <dcterms:modified xsi:type="dcterms:W3CDTF">2026-03-28T17:08:55Z</dcterms:modified>
</cp:coreProperties>
</file>